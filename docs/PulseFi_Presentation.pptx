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84C"/>
                </a:solidFill>
              </a:defRPr>
            </a:pPr>
            <a:r>
              <a:t>PULSE-FI: Contactless Wi-Fi CSI Multi-Task Sensing</a:t>
            </a:r>
          </a:p>
          <a:p>
            <a:pPr>
              <a:defRPr sz="1300" i="1">
                <a:solidFill>
                  <a:srgbClr val="0072B2"/>
                </a:solidFill>
              </a:defRPr>
            </a:pPr>
            <a:r>
              <a:t>Krishnadev B Nair (241140100) • Ardra Ajikumar (241140107) • Benert P Santosh (241140144) | Guide: Ms. Nikitha 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Device-free RF sensing using commodity ESP32 802.11n Channel State Information (CSI).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Simultaneously solves three indoor sensing tasks without cameras or wearables: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1. Presence &amp; Activity Detection (Empty vs. Stationary vs. Moving): 100.00% Macro F1.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2. Spatial RF Zone Fingerprinting (1m vs. 2m vs. 3m): 100.00% Macro F1.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3. Respiratory Anomaly &amp; BPM Monitoring (Normal vs. Fast/Tachypnea vs. Apnea): 100.00% F1.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Validated on 12 hardware captures (12,492 CSI packets, 828 total evaluation windows).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84C"/>
                </a:solidFill>
              </a:defRPr>
            </a:pPr>
            <a:r>
              <a:t>1. Problem Statement, Existing Systems &amp; Objectives</a:t>
            </a:r>
          </a:p>
          <a:p>
            <a:pPr>
              <a:defRPr sz="1300" i="1">
                <a:solidFill>
                  <a:srgbClr val="0072B2"/>
                </a:solidFill>
              </a:defRPr>
            </a:pPr>
            <a:r>
              <a:t>Speaker: Benert P Santosh &amp; Ardra Ajikumar (Report Sections 1–4)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Existing Systems: Contact wearables (chest straps, pulse oximeters) cause discomfort; cameras raise severe privacy issues.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Legacy RSSI Limitations: Single coarse scalar per packet suffers severe multipath fading and fails on micro-motion chest displacement.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Proposed Pulse-Fi System: Extracts fine-grained amplitude across 52 active OFDM subcarriers.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Core Objective: Build a leak-free signal processing &amp; ensemble ML pipeline capable of detecting sub-centimeter chest motion and room occupancy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84C"/>
                </a:solidFill>
              </a:defRPr>
            </a:pPr>
            <a:r>
              <a:t>2. Hardware Architecture &amp; CSI Data Acquisition (Days 1–4)</a:t>
            </a:r>
          </a:p>
          <a:p>
            <a:pPr>
              <a:defRPr sz="1300" i="1">
                <a:solidFill>
                  <a:srgbClr val="0072B2"/>
                </a:solidFill>
              </a:defRPr>
            </a:pPr>
            <a:r>
              <a:t>Speaker: Krishnadev B Nair (Hardware &amp; Pipeline Lead)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Transmitter / Receiver Setup: Dual ESP32 802.11n nodes operating in 2.4 GHz HT20 OFDM mode.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Subcarrier Extraction: 64 total subcarriers parsed -&gt; 12 null/guard subcarriers removed -&gt; 52 active data subcarriers retained.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Dataset Captured: 12 distinct hardware recordings totaling 12,492 raw CSI frames.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Task Breakdown: 4 Presence recordings (312 windows), 3 Spatial Zone recordings (149 windows), and 5 Respiratory recordings (367 windows).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84C"/>
                </a:solidFill>
              </a:defRPr>
            </a:pPr>
            <a:r>
              <a:t>3. Signal Conditioning &amp; Subcarrier Selection (Days 1–4 / D1–D4)</a:t>
            </a:r>
          </a:p>
          <a:p>
            <a:pPr>
              <a:defRPr sz="1300" i="1">
                <a:solidFill>
                  <a:srgbClr val="0072B2"/>
                </a:solidFill>
              </a:defRPr>
            </a:pPr>
            <a:r>
              <a:t>Speaker: Ardra Ajikumar (Signal Conditioning &amp; Sequence Track)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D1 Uniform Resampling: Raw ESP32 UDP arrival averaged 12.37 Hz; cubic-spline interpolated onto a strict 20.0 Hz (dt = 50 ms) grid.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D2 Hampel &amp; Bandpass Denoising: Hampel outlier rejection + 4th-order zero-phase Butterworth filter (0.14–0.65 Hz) yielded +16.07 dB mean SNR gain.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D3 Phase-Cancellation Proof: Selecting the Top-6 dynamic subcarriers preserves 1.25x–1.35x higher respiratory RMS than naive 52-subcarrier averaging.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D4 Sliding Sub-Windows: 10 overlapping 3s steps (1s stride) per 12s window form the 3D tensor (367 x 10 x 17).</a:t>
            </a:r>
          </a:p>
        </p:txBody>
      </p:sp>
      <p:pic>
        <p:nvPicPr>
          <p:cNvPr id="4" name="Picture 3" descr="fig9_ardra_d1_d4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34440"/>
            <a:ext cx="6217920" cy="42193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84C"/>
                </a:solidFill>
              </a:defRPr>
            </a:pPr>
            <a:r>
              <a:t>4. Leak-Free Physiological Feature Engineering &amp; BPM Calibration</a:t>
            </a:r>
          </a:p>
          <a:p>
            <a:pPr>
              <a:defRPr sz="1300" i="1">
                <a:solidFill>
                  <a:srgbClr val="0072B2"/>
                </a:solidFill>
              </a:defRPr>
            </a:pPr>
            <a:r>
              <a:t>Speaker: Krishnadev B Nair &amp; Benert P Santosh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Session-Bias Audit: Removed static subcarrier DC ratios (sc_spatial_ratio, sc_spatial_std) from training to prevent posture/session memorization.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17 Grounded Physiological Scalars: est_bpm, dom_freq, sig_rms, fast_rms, dropout_ratio, iqr, ptp, spectral_entropy, and band power fractions.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112 Zero-Mean L2-Normalized AC Features: Captures relative spatial-dynamic fluctuation and velocity across all 52 subcarriers.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Calibrated BPM Readout: Accurately separates Normal resting breathing (15.6 ± 3.2 BPM) from Fast/Tachypnea (22.1 ± 5.4 BPM) and Apnea (&lt;5 BPM).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84C"/>
                </a:solidFill>
              </a:defRPr>
            </a:pPr>
            <a:r>
              <a:t>5. PCA Feature Clustering &amp; Multi-Task Separability</a:t>
            </a:r>
          </a:p>
          <a:p>
            <a:pPr>
              <a:defRPr sz="1300" i="1">
                <a:solidFill>
                  <a:srgbClr val="0072B2"/>
                </a:solidFill>
              </a:defRPr>
            </a:pPr>
            <a:r>
              <a:t>Speaker: Krishnadev B Nair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Unsupervised 2D Principal Component Analysis (PCA) confirms strong class cluster separation prior to supervised classification.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Presence &amp; Activity: Empty room forms a tight noise-floor cluster, clearly separated from stationary breathing and high-variance walking.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Spatial RF Zones: 1m, 2m, and 3m zones form distinct multipath comb manifolds.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Respiratory States: Normal, Tachypnea, and Apnea occupy distinct regions in the 129-dimensional leak-free feature 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84C"/>
                </a:solidFill>
              </a:defRPr>
            </a:pPr>
            <a:r>
              <a:t>6. Temporal Sequence / LSTM Modeling &amp; Horizon Scaling (Days 5–8)</a:t>
            </a:r>
          </a:p>
          <a:p>
            <a:pPr>
              <a:defRPr sz="1300" i="1">
                <a:solidFill>
                  <a:srgbClr val="0072B2"/>
                </a:solidFill>
              </a:defRPr>
            </a:pPr>
            <a:r>
              <a:t>Speaker: Ardra Ajikumar (Sequence &amp; LSTM Lead)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Presence Sequence Tuning (D6–D8): Tuning window length (2s -&gt; 4s), hidden layers (128, 64, 32), and L2 regularization improved Presence F1 from 81.53% to 100.00%.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Respiratory Horizon Scaling (D5): Single 3s snapshot (T=1) achieves only 49.32% Macro F1 because 3s is shorter than one full breath cycle.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10-Step Trajectory Gain: Modeling all 10 steps (T=10, 12s) with 17 features jumps F1 by +35.11% (to 84.43%).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Bi-Recurrent Gate + Full 129-Feature Tensor: Achieves 100.00% 5-Fold CV Macro F1 across all 367 sequences.</a:t>
            </a:r>
          </a:p>
        </p:txBody>
      </p:sp>
      <p:pic>
        <p:nvPicPr>
          <p:cNvPr id="4" name="Picture 3" descr="fig10_d5_sequenc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34440"/>
            <a:ext cx="6217920" cy="23950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84C"/>
                </a:solidFill>
              </a:defRPr>
            </a:pPr>
            <a:r>
              <a:t>7. Random Forest Classifier &amp; 3-Stage Feature Ablation (Days 6–8 / D8)</a:t>
            </a:r>
          </a:p>
          <a:p>
            <a:pPr>
              <a:defRPr sz="1300" i="1">
                <a:solidFill>
                  <a:srgbClr val="0072B2"/>
                </a:solidFill>
              </a:defRPr>
            </a:pPr>
            <a:r>
              <a:t>Speaker: Benert P Santosh (Random Forest &amp; Evaluation Lead)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Config A (17 Physiological Scalars Only): 85.29% CV Accuracy | 83.25% Macro F1 | 86.92% OOB Score.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Config B (112 Zero-Mean AC Dynamic Profile): 99.73% CV Accuracy | 99.75% Macro F1 | 99.46% OOB Score.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Config C (Combined 129 Leak-Free Set + GridSearchCV n_estimators=100): 100.00% 5-Fold Macro F1 and 100.00% Out-of-Bag accuracy.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Top Gini Features: fast_to_sig_rms_ratio, log_p_fast_to_norm, p_fast_frac, est_bpm, and high-frequency AC velocity subcarriers.</a:t>
            </a:r>
          </a:p>
        </p:txBody>
      </p:sp>
      <p:pic>
        <p:nvPicPr>
          <p:cNvPr id="4" name="Picture 3" descr="fig8_d8_rf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34440"/>
            <a:ext cx="6217920" cy="23950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84C"/>
                </a:solidFill>
              </a:defRPr>
            </a:pPr>
            <a:r>
              <a:t>8. Top-15 Gini Feature Importance Breakdown (Deliverable D8)</a:t>
            </a:r>
          </a:p>
          <a:p>
            <a:pPr>
              <a:defRPr sz="1300" i="1">
                <a:solidFill>
                  <a:srgbClr val="0072B2"/>
                </a:solidFill>
              </a:defRPr>
            </a:pPr>
            <a:r>
              <a:t>Speaker: Benert P Santosh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Gini impurity analysis confirms the model relies on genuine physiological frequency and envelope dynamics rather than static room power.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Frequency-Ratio Dominance: fast_to_sig_rms_ratio and log_p_fast_to_norm separate Tachypnea (&gt;22 BPM) from resting breathing.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Envelope &amp; Dropout Features: min_sub_std, ptp, and dropout_ratio isolate Apnea breath-holds from low-amplitude resting respiration.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Zero-Mean AC Subcarriers: Dynamic velocity on upper subcarriers (SC40–SC44) provides resilience against single-subcarrier multipath nulls.</a:t>
            </a:r>
          </a:p>
        </p:txBody>
      </p:sp>
      <p:pic>
        <p:nvPicPr>
          <p:cNvPr id="4" name="Picture 3" descr="fig7_rf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34440"/>
            <a:ext cx="6217920" cy="34198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84C"/>
                </a:solidFill>
              </a:defRPr>
            </a:pPr>
            <a:r>
              <a:t>9. Unified Ensemble &amp; Day 10 Error Analysis (Days 9–10 Milestone)</a:t>
            </a:r>
          </a:p>
          <a:p>
            <a:pPr>
              <a:defRPr sz="1300" i="1">
                <a:solidFill>
                  <a:srgbClr val="0072B2"/>
                </a:solidFill>
              </a:defRPr>
            </a:pPr>
            <a:r>
              <a:t>Speaker: Ardra Ajikumar &amp; Benert P Santosh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Day 9 Ensemble: Soft-voting combination of the Sequence Branch + Random Forest Branch achieves 99.75%–100.00% across all three tasks.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Day 10 Error Analysis (59 Scalar Baseline Errors Audited):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1. Apnea &lt;-&gt; Fast (26 errors): Noise-floor zero-crossing spikes during breath-hold mimic rapid shallow cycles in scalar FFT.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2. Apnea &lt;-&gt; Normal (18 errors): Residual micro-motion at start/end of breath-hold mimics shallow resting breathing.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3. Normal &lt;-&gt; Fast (15 errors): 2nd respiratory harmonic spillover; completely eliminated by the 129-feature ensemble.</a:t>
            </a:r>
          </a:p>
        </p:txBody>
      </p:sp>
      <p:pic>
        <p:nvPicPr>
          <p:cNvPr id="4" name="Picture 3" descr="fig11_d9_d10_ensemble_and_erro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34440"/>
            <a:ext cx="6217920" cy="23095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84C"/>
                </a:solidFill>
              </a:defRPr>
            </a:pPr>
            <a:r>
              <a:t>10. Multi-Task Confusion Matrices &amp; Overall Benchmark Summary</a:t>
            </a:r>
          </a:p>
          <a:p>
            <a:pPr>
              <a:defRPr sz="1300" i="1">
                <a:solidFill>
                  <a:srgbClr val="0072B2"/>
                </a:solidFill>
              </a:defRPr>
            </a:pPr>
            <a:r>
              <a:t>Speaker: Benert P Santosh &amp; Krishnadev B Nair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Task 1 — Presence &amp; Activity (312 windows): 100.00% Precision, Recall, and Macro F1 across Empty, Stationary, and Moving.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Task 2 — Spatial RF Fingerprinting (149 windows): 100.00% Precision, Recall, and Macro F1 across Zone 1 (1m), Zone 2 (2m), and Zone 3 (3m).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Task 3 — Respiratory Anomaly (367 windows): 100.00% Tuned RF / Bi-Recurrent Sequence F1 (171 Normal, 85 Fast, 111 Apnea).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Zero data leakage verified via strict session-bias isolation and 5-fold stratified cross-validation.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84C"/>
                </a:solidFill>
              </a:defRPr>
            </a:pPr>
            <a:r>
              <a:t>11. Live Interactive Streamlit Dashboard &amp; Conclusion (Days 11–14)</a:t>
            </a:r>
          </a:p>
          <a:p>
            <a:pPr>
              <a:defRPr sz="1300" i="1">
                <a:solidFill>
                  <a:srgbClr val="0072B2"/>
                </a:solidFill>
              </a:defRPr>
            </a:pPr>
            <a:r>
              <a:t>Speaker: Krishnadev B Nair (Live Demo Walkthrough)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Real-Time Control Center (src/dashboard.py): Built in Streamlit + Plotly for live window scrubbing and multi-model inference.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Simultaneous KPI Banner: Displays live Presence state, Spatial Zone (1m/2m/3m), Respiratory class, and calibrated BPM readout.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4 Interactive Visual Panels: Top-3 respiratory waveforms, 52-subcarrier comb profile, Viridis spatio-temporal heatmap, and live Welch PSD spectrum.</a:t>
            </a:r>
          </a:p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 Future Scope: Multi-person blind source separation (ICA) and edge deployment via ESP-DL / TensorFlow Lite Micro.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